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1A3"/>
    <a:srgbClr val="FFC285"/>
    <a:srgbClr val="F2ED92"/>
    <a:srgbClr val="BACABD"/>
    <a:srgbClr val="98EC9C"/>
    <a:srgbClr val="FFA751"/>
    <a:srgbClr val="010000"/>
    <a:srgbClr val="241660"/>
    <a:srgbClr val="9BBB59"/>
    <a:srgbClr val="39B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108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3C94E9-122D-49A4-8975-3F4775C5977E}" type="doc">
      <dgm:prSet loTypeId="urn:microsoft.com/office/officeart/2005/8/layout/cycle2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C906F9CE-7713-4CC2-B985-1BD8ADED2BA0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Improved Safety </a:t>
          </a:r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</a:t>
          </a:r>
          <a:r>
            <a: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Earlier warning of nearby vehicles and obstacles </a:t>
          </a:r>
        </a:p>
        <a:p>
          <a:pPr>
            <a:buFont typeface="Arial" panose="020B0604020202020204" pitchFamily="34" charset="0"/>
            <a:buChar char="•"/>
          </a:pPr>
          <a:r>
            <a: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Reduced collision exposure in low visibility</a:t>
          </a:r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728A21-3197-4CC8-89B9-82DD56A20258}" type="parTrans" cxnId="{42798A68-E6BE-43A6-9CCF-C29C526AE2F2}">
      <dgm:prSet/>
      <dgm:spPr/>
      <dgm:t>
        <a:bodyPr/>
        <a:lstStyle/>
        <a:p>
          <a:endParaRPr lang="en-IN"/>
        </a:p>
      </dgm:t>
    </dgm:pt>
    <dgm:pt modelId="{9FD8C18C-03DB-45FF-A1B2-FBB1CF9B6E04}" type="sibTrans" cxnId="{42798A68-E6BE-43A6-9CCF-C29C526AE2F2}">
      <dgm:prSet/>
      <dgm:spPr/>
      <dgm:t>
        <a:bodyPr/>
        <a:lstStyle/>
        <a:p>
          <a:endParaRPr lang="en-IN"/>
        </a:p>
      </dgm:t>
    </dgm:pt>
    <dgm:pt modelId="{D9440412-6084-417A-8221-A4CE0849F3BE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Better Fleet Coordination – </a:t>
          </a:r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V2V communication improves awareness between dumpers</a:t>
          </a:r>
        </a:p>
        <a:p>
          <a:r>
            <a: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Improved haul-road coordination</a:t>
          </a:r>
          <a:r>
            <a: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80847A-8F79-4EC8-9F48-97025C10B631}" type="parTrans" cxnId="{C42183A9-6E39-4EC9-BC73-5A390827ECE5}">
      <dgm:prSet/>
      <dgm:spPr/>
      <dgm:t>
        <a:bodyPr/>
        <a:lstStyle/>
        <a:p>
          <a:endParaRPr lang="en-IN"/>
        </a:p>
      </dgm:t>
    </dgm:pt>
    <dgm:pt modelId="{CF8C0EDD-AF72-4522-BF2A-91932509B780}" type="sibTrans" cxnId="{C42183A9-6E39-4EC9-BC73-5A390827ECE5}">
      <dgm:prSet/>
      <dgm:spPr/>
      <dgm:t>
        <a:bodyPr/>
        <a:lstStyle/>
        <a:p>
          <a:endParaRPr lang="en-IN"/>
        </a:p>
      </dgm:t>
    </dgm:pt>
    <dgm:pt modelId="{D1D7B89F-F10D-413B-94DD-A44948F337A1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endParaRPr lang="en-US" sz="1600" b="1" dirty="0">
            <a:solidFill>
              <a:schemeClr val="bg1">
                <a:lumMod val="9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Faster Response </a:t>
          </a:r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 Supports timely stopping during critical situations</a:t>
          </a:r>
          <a:r>
            <a: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en-IN" sz="1500" dirty="0"/>
            <a:t> </a:t>
          </a:r>
          <a:endParaRPr lang="en-US" sz="15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endParaRPr lang="en-IN" sz="15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7A33EE-5246-48B3-89B9-839ED4808917}" type="parTrans" cxnId="{1B01A8E4-A79A-478E-BD06-A16C9FB21B43}">
      <dgm:prSet/>
      <dgm:spPr/>
      <dgm:t>
        <a:bodyPr/>
        <a:lstStyle/>
        <a:p>
          <a:endParaRPr lang="en-IN"/>
        </a:p>
      </dgm:t>
    </dgm:pt>
    <dgm:pt modelId="{B6B949F7-3B15-4539-A1AE-2B3A29D8A34B}" type="sibTrans" cxnId="{1B01A8E4-A79A-478E-BD06-A16C9FB21B43}">
      <dgm:prSet/>
      <dgm:spPr/>
      <dgm:t>
        <a:bodyPr/>
        <a:lstStyle/>
        <a:p>
          <a:endParaRPr lang="en-IN"/>
        </a:p>
      </dgm:t>
    </dgm:pt>
    <dgm:pt modelId="{4A9C6310-4850-497A-95E9-A070F61E6537}">
      <dgm:prSet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Early Hazard Detection </a:t>
          </a:r>
          <a:r>
            <a: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 Gives operators timely warnings about nearby vehicles and obstacles</a:t>
          </a:r>
          <a:r>
            <a:rPr lang="en-US" sz="1600" dirty="0"/>
            <a:t>.</a:t>
          </a:r>
          <a:endParaRPr lang="en-IN" sz="1600" dirty="0"/>
        </a:p>
      </dgm:t>
    </dgm:pt>
    <dgm:pt modelId="{17CD3620-E0E9-4C53-A66C-65510EF2D94C}" type="parTrans" cxnId="{26ECE1DE-0EF9-4F4B-9CEE-34411DABEF6C}">
      <dgm:prSet/>
      <dgm:spPr/>
      <dgm:t>
        <a:bodyPr/>
        <a:lstStyle/>
        <a:p>
          <a:endParaRPr lang="en-IN"/>
        </a:p>
      </dgm:t>
    </dgm:pt>
    <dgm:pt modelId="{11ACA1C5-54F7-418D-A5A4-25D0B62391B4}" type="sibTrans" cxnId="{26ECE1DE-0EF9-4F4B-9CEE-34411DABEF6C}">
      <dgm:prSet/>
      <dgm:spPr/>
      <dgm:t>
        <a:bodyPr/>
        <a:lstStyle/>
        <a:p>
          <a:endParaRPr lang="en-IN"/>
        </a:p>
      </dgm:t>
    </dgm:pt>
    <dgm:pt modelId="{4D0BC032-1CC7-46D6-B8AB-997170336045}" type="pres">
      <dgm:prSet presAssocID="{ED3C94E9-122D-49A4-8975-3F4775C5977E}" presName="cycle" presStyleCnt="0">
        <dgm:presLayoutVars>
          <dgm:dir/>
          <dgm:resizeHandles val="exact"/>
        </dgm:presLayoutVars>
      </dgm:prSet>
      <dgm:spPr/>
    </dgm:pt>
    <dgm:pt modelId="{F1188451-AA9C-4C56-990E-96D9A60FCFEE}" type="pres">
      <dgm:prSet presAssocID="{C906F9CE-7713-4CC2-B985-1BD8ADED2BA0}" presName="node" presStyleLbl="node1" presStyleIdx="0" presStyleCnt="4" custScaleX="171455" custScaleY="166138" custRadScaleRad="99082" custRadScaleInc="-161">
        <dgm:presLayoutVars>
          <dgm:bulletEnabled val="1"/>
        </dgm:presLayoutVars>
      </dgm:prSet>
      <dgm:spPr/>
    </dgm:pt>
    <dgm:pt modelId="{08308812-11F4-4E53-AF67-EE63B941AE9D}" type="pres">
      <dgm:prSet presAssocID="{9FD8C18C-03DB-45FF-A1B2-FBB1CF9B6E04}" presName="sibTrans" presStyleLbl="sibTrans2D1" presStyleIdx="0" presStyleCnt="4"/>
      <dgm:spPr/>
    </dgm:pt>
    <dgm:pt modelId="{EDF1F0CB-2E1D-4B3E-94F2-D930C9DC2178}" type="pres">
      <dgm:prSet presAssocID="{9FD8C18C-03DB-45FF-A1B2-FBB1CF9B6E04}" presName="connectorText" presStyleLbl="sibTrans2D1" presStyleIdx="0" presStyleCnt="4"/>
      <dgm:spPr/>
    </dgm:pt>
    <dgm:pt modelId="{6D06A87E-E800-4045-9119-56F4FFD81F6B}" type="pres">
      <dgm:prSet presAssocID="{D9440412-6084-417A-8221-A4CE0849F3BE}" presName="node" presStyleLbl="node1" presStyleIdx="1" presStyleCnt="4" custScaleX="140683" custScaleY="190705" custRadScaleRad="103725" custRadScaleInc="-701">
        <dgm:presLayoutVars>
          <dgm:bulletEnabled val="1"/>
        </dgm:presLayoutVars>
      </dgm:prSet>
      <dgm:spPr/>
    </dgm:pt>
    <dgm:pt modelId="{8190B071-EF30-4F7C-8437-F3066EC701D7}" type="pres">
      <dgm:prSet presAssocID="{CF8C0EDD-AF72-4522-BF2A-91932509B780}" presName="sibTrans" presStyleLbl="sibTrans2D1" presStyleIdx="1" presStyleCnt="4"/>
      <dgm:spPr/>
    </dgm:pt>
    <dgm:pt modelId="{115D6A20-EDBA-4A0F-BE3B-42DF8EE7526A}" type="pres">
      <dgm:prSet presAssocID="{CF8C0EDD-AF72-4522-BF2A-91932509B780}" presName="connectorText" presStyleLbl="sibTrans2D1" presStyleIdx="1" presStyleCnt="4"/>
      <dgm:spPr/>
    </dgm:pt>
    <dgm:pt modelId="{B5923C32-2BBF-47D5-B43A-20A767273E72}" type="pres">
      <dgm:prSet presAssocID="{4A9C6310-4850-497A-95E9-A070F61E6537}" presName="node" presStyleLbl="node1" presStyleIdx="2" presStyleCnt="4" custScaleX="134046" custScaleY="169276" custRadScaleRad="90947" custRadScaleInc="-1130">
        <dgm:presLayoutVars>
          <dgm:bulletEnabled val="1"/>
        </dgm:presLayoutVars>
      </dgm:prSet>
      <dgm:spPr/>
    </dgm:pt>
    <dgm:pt modelId="{1DC14E11-380B-4194-9E1B-28FD44224742}" type="pres">
      <dgm:prSet presAssocID="{11ACA1C5-54F7-418D-A5A4-25D0B62391B4}" presName="sibTrans" presStyleLbl="sibTrans2D1" presStyleIdx="2" presStyleCnt="4"/>
      <dgm:spPr/>
    </dgm:pt>
    <dgm:pt modelId="{EE5FC13F-C423-4E8E-9B5B-7B62CEF01D96}" type="pres">
      <dgm:prSet presAssocID="{11ACA1C5-54F7-418D-A5A4-25D0B62391B4}" presName="connectorText" presStyleLbl="sibTrans2D1" presStyleIdx="2" presStyleCnt="4"/>
      <dgm:spPr/>
    </dgm:pt>
    <dgm:pt modelId="{4E18E0A2-2490-429E-A9E9-A8DEC695AF99}" type="pres">
      <dgm:prSet presAssocID="{D1D7B89F-F10D-413B-94DD-A44948F337A1}" presName="node" presStyleLbl="node1" presStyleIdx="3" presStyleCnt="4" custScaleX="136380" custScaleY="172773" custRadScaleRad="112222" custRadScaleInc="2028">
        <dgm:presLayoutVars>
          <dgm:bulletEnabled val="1"/>
        </dgm:presLayoutVars>
      </dgm:prSet>
      <dgm:spPr/>
    </dgm:pt>
    <dgm:pt modelId="{845546AB-36BA-42E4-A6C1-0C9D62802C97}" type="pres">
      <dgm:prSet presAssocID="{B6B949F7-3B15-4539-A1AE-2B3A29D8A34B}" presName="sibTrans" presStyleLbl="sibTrans2D1" presStyleIdx="3" presStyleCnt="4"/>
      <dgm:spPr/>
    </dgm:pt>
    <dgm:pt modelId="{58396E01-7952-4386-8A24-F805DE8090F6}" type="pres">
      <dgm:prSet presAssocID="{B6B949F7-3B15-4539-A1AE-2B3A29D8A34B}" presName="connectorText" presStyleLbl="sibTrans2D1" presStyleIdx="3" presStyleCnt="4"/>
      <dgm:spPr/>
    </dgm:pt>
  </dgm:ptLst>
  <dgm:cxnLst>
    <dgm:cxn modelId="{A025AA00-93E7-462D-860D-D481E0D0E6C5}" type="presOf" srcId="{CF8C0EDD-AF72-4522-BF2A-91932509B780}" destId="{8190B071-EF30-4F7C-8437-F3066EC701D7}" srcOrd="0" destOrd="0" presId="urn:microsoft.com/office/officeart/2005/8/layout/cycle2"/>
    <dgm:cxn modelId="{AD3BA404-3588-4EAB-8437-42108926A0A1}" type="presOf" srcId="{CF8C0EDD-AF72-4522-BF2A-91932509B780}" destId="{115D6A20-EDBA-4A0F-BE3B-42DF8EE7526A}" srcOrd="1" destOrd="0" presId="urn:microsoft.com/office/officeart/2005/8/layout/cycle2"/>
    <dgm:cxn modelId="{0935470F-5C43-41D8-8DC5-96FCAD89CE2E}" type="presOf" srcId="{B6B949F7-3B15-4539-A1AE-2B3A29D8A34B}" destId="{845546AB-36BA-42E4-A6C1-0C9D62802C97}" srcOrd="0" destOrd="0" presId="urn:microsoft.com/office/officeart/2005/8/layout/cycle2"/>
    <dgm:cxn modelId="{0A4C6A25-C237-4457-95F6-C455E5C6883D}" type="presOf" srcId="{ED3C94E9-122D-49A4-8975-3F4775C5977E}" destId="{4D0BC032-1CC7-46D6-B8AB-997170336045}" srcOrd="0" destOrd="0" presId="urn:microsoft.com/office/officeart/2005/8/layout/cycle2"/>
    <dgm:cxn modelId="{3766CB25-BAD8-43A2-A073-FE673F02409C}" type="presOf" srcId="{C906F9CE-7713-4CC2-B985-1BD8ADED2BA0}" destId="{F1188451-AA9C-4C56-990E-96D9A60FCFEE}" srcOrd="0" destOrd="0" presId="urn:microsoft.com/office/officeart/2005/8/layout/cycle2"/>
    <dgm:cxn modelId="{125D463D-7492-4C96-92DB-18FFA5433859}" type="presOf" srcId="{11ACA1C5-54F7-418D-A5A4-25D0B62391B4}" destId="{EE5FC13F-C423-4E8E-9B5B-7B62CEF01D96}" srcOrd="1" destOrd="0" presId="urn:microsoft.com/office/officeart/2005/8/layout/cycle2"/>
    <dgm:cxn modelId="{5FB69B42-27C5-40CA-8A64-52C1D17B263B}" type="presOf" srcId="{9FD8C18C-03DB-45FF-A1B2-FBB1CF9B6E04}" destId="{08308812-11F4-4E53-AF67-EE63B941AE9D}" srcOrd="0" destOrd="0" presId="urn:microsoft.com/office/officeart/2005/8/layout/cycle2"/>
    <dgm:cxn modelId="{42798A68-E6BE-43A6-9CCF-C29C526AE2F2}" srcId="{ED3C94E9-122D-49A4-8975-3F4775C5977E}" destId="{C906F9CE-7713-4CC2-B985-1BD8ADED2BA0}" srcOrd="0" destOrd="0" parTransId="{4F728A21-3197-4CC8-89B9-82DD56A20258}" sibTransId="{9FD8C18C-03DB-45FF-A1B2-FBB1CF9B6E04}"/>
    <dgm:cxn modelId="{F35D5C4C-8F04-4C60-B995-EFA6D4996140}" type="presOf" srcId="{11ACA1C5-54F7-418D-A5A4-25D0B62391B4}" destId="{1DC14E11-380B-4194-9E1B-28FD44224742}" srcOrd="0" destOrd="0" presId="urn:microsoft.com/office/officeart/2005/8/layout/cycle2"/>
    <dgm:cxn modelId="{0E59D66D-7806-480C-B3B4-9E3F6C627390}" type="presOf" srcId="{D9440412-6084-417A-8221-A4CE0849F3BE}" destId="{6D06A87E-E800-4045-9119-56F4FFD81F6B}" srcOrd="0" destOrd="0" presId="urn:microsoft.com/office/officeart/2005/8/layout/cycle2"/>
    <dgm:cxn modelId="{E62C814E-2389-4E09-95CB-BAA2662F8AA2}" type="presOf" srcId="{9FD8C18C-03DB-45FF-A1B2-FBB1CF9B6E04}" destId="{EDF1F0CB-2E1D-4B3E-94F2-D930C9DC2178}" srcOrd="1" destOrd="0" presId="urn:microsoft.com/office/officeart/2005/8/layout/cycle2"/>
    <dgm:cxn modelId="{335A087C-B22A-43C5-B783-6AD38AA24CA4}" type="presOf" srcId="{4A9C6310-4850-497A-95E9-A070F61E6537}" destId="{B5923C32-2BBF-47D5-B43A-20A767273E72}" srcOrd="0" destOrd="0" presId="urn:microsoft.com/office/officeart/2005/8/layout/cycle2"/>
    <dgm:cxn modelId="{15B27F8F-6717-44BB-B337-065B05FA71C9}" type="presOf" srcId="{B6B949F7-3B15-4539-A1AE-2B3A29D8A34B}" destId="{58396E01-7952-4386-8A24-F805DE8090F6}" srcOrd="1" destOrd="0" presId="urn:microsoft.com/office/officeart/2005/8/layout/cycle2"/>
    <dgm:cxn modelId="{51BEA799-6536-4240-8F19-4180A3096AF8}" type="presOf" srcId="{D1D7B89F-F10D-413B-94DD-A44948F337A1}" destId="{4E18E0A2-2490-429E-A9E9-A8DEC695AF99}" srcOrd="0" destOrd="0" presId="urn:microsoft.com/office/officeart/2005/8/layout/cycle2"/>
    <dgm:cxn modelId="{C42183A9-6E39-4EC9-BC73-5A390827ECE5}" srcId="{ED3C94E9-122D-49A4-8975-3F4775C5977E}" destId="{D9440412-6084-417A-8221-A4CE0849F3BE}" srcOrd="1" destOrd="0" parTransId="{A380847A-8F79-4EC8-9F48-97025C10B631}" sibTransId="{CF8C0EDD-AF72-4522-BF2A-91932509B780}"/>
    <dgm:cxn modelId="{26ECE1DE-0EF9-4F4B-9CEE-34411DABEF6C}" srcId="{ED3C94E9-122D-49A4-8975-3F4775C5977E}" destId="{4A9C6310-4850-497A-95E9-A070F61E6537}" srcOrd="2" destOrd="0" parTransId="{17CD3620-E0E9-4C53-A66C-65510EF2D94C}" sibTransId="{11ACA1C5-54F7-418D-A5A4-25D0B62391B4}"/>
    <dgm:cxn modelId="{1B01A8E4-A79A-478E-BD06-A16C9FB21B43}" srcId="{ED3C94E9-122D-49A4-8975-3F4775C5977E}" destId="{D1D7B89F-F10D-413B-94DD-A44948F337A1}" srcOrd="3" destOrd="0" parTransId="{4F7A33EE-5246-48B3-89B9-839ED4808917}" sibTransId="{B6B949F7-3B15-4539-A1AE-2B3A29D8A34B}"/>
    <dgm:cxn modelId="{953416A0-0227-4570-B51E-1B41827C3CAD}" type="presParOf" srcId="{4D0BC032-1CC7-46D6-B8AB-997170336045}" destId="{F1188451-AA9C-4C56-990E-96D9A60FCFEE}" srcOrd="0" destOrd="0" presId="urn:microsoft.com/office/officeart/2005/8/layout/cycle2"/>
    <dgm:cxn modelId="{36103283-AD27-478C-B949-B26DECD2C5AC}" type="presParOf" srcId="{4D0BC032-1CC7-46D6-B8AB-997170336045}" destId="{08308812-11F4-4E53-AF67-EE63B941AE9D}" srcOrd="1" destOrd="0" presId="urn:microsoft.com/office/officeart/2005/8/layout/cycle2"/>
    <dgm:cxn modelId="{FA9A0F8D-93D0-4235-816D-C85C103CE69B}" type="presParOf" srcId="{08308812-11F4-4E53-AF67-EE63B941AE9D}" destId="{EDF1F0CB-2E1D-4B3E-94F2-D930C9DC2178}" srcOrd="0" destOrd="0" presId="urn:microsoft.com/office/officeart/2005/8/layout/cycle2"/>
    <dgm:cxn modelId="{52D71136-A355-4D99-B72D-3D70EA1F23B2}" type="presParOf" srcId="{4D0BC032-1CC7-46D6-B8AB-997170336045}" destId="{6D06A87E-E800-4045-9119-56F4FFD81F6B}" srcOrd="2" destOrd="0" presId="urn:microsoft.com/office/officeart/2005/8/layout/cycle2"/>
    <dgm:cxn modelId="{58029E7D-3143-434E-95C8-B86CD30EF152}" type="presParOf" srcId="{4D0BC032-1CC7-46D6-B8AB-997170336045}" destId="{8190B071-EF30-4F7C-8437-F3066EC701D7}" srcOrd="3" destOrd="0" presId="urn:microsoft.com/office/officeart/2005/8/layout/cycle2"/>
    <dgm:cxn modelId="{D50B23C3-4C5E-46B6-9DD0-04821EBF19E6}" type="presParOf" srcId="{8190B071-EF30-4F7C-8437-F3066EC701D7}" destId="{115D6A20-EDBA-4A0F-BE3B-42DF8EE7526A}" srcOrd="0" destOrd="0" presId="urn:microsoft.com/office/officeart/2005/8/layout/cycle2"/>
    <dgm:cxn modelId="{1767A9B5-5DAB-4794-8DF7-B8B04C42401D}" type="presParOf" srcId="{4D0BC032-1CC7-46D6-B8AB-997170336045}" destId="{B5923C32-2BBF-47D5-B43A-20A767273E72}" srcOrd="4" destOrd="0" presId="urn:microsoft.com/office/officeart/2005/8/layout/cycle2"/>
    <dgm:cxn modelId="{B4F66D84-F17E-4C7D-9A37-760D797FF72B}" type="presParOf" srcId="{4D0BC032-1CC7-46D6-B8AB-997170336045}" destId="{1DC14E11-380B-4194-9E1B-28FD44224742}" srcOrd="5" destOrd="0" presId="urn:microsoft.com/office/officeart/2005/8/layout/cycle2"/>
    <dgm:cxn modelId="{14963651-11DF-4341-8988-A25D4E214B49}" type="presParOf" srcId="{1DC14E11-380B-4194-9E1B-28FD44224742}" destId="{EE5FC13F-C423-4E8E-9B5B-7B62CEF01D96}" srcOrd="0" destOrd="0" presId="urn:microsoft.com/office/officeart/2005/8/layout/cycle2"/>
    <dgm:cxn modelId="{3A43F842-49DE-49D6-A096-44EBC56135FA}" type="presParOf" srcId="{4D0BC032-1CC7-46D6-B8AB-997170336045}" destId="{4E18E0A2-2490-429E-A9E9-A8DEC695AF99}" srcOrd="6" destOrd="0" presId="urn:microsoft.com/office/officeart/2005/8/layout/cycle2"/>
    <dgm:cxn modelId="{7918F8B1-7FEF-4F5E-9262-F86E83F8C5AC}" type="presParOf" srcId="{4D0BC032-1CC7-46D6-B8AB-997170336045}" destId="{845546AB-36BA-42E4-A6C1-0C9D62802C97}" srcOrd="7" destOrd="0" presId="urn:microsoft.com/office/officeart/2005/8/layout/cycle2"/>
    <dgm:cxn modelId="{8D0237B0-A1C9-405D-B12D-7857C05FEC98}" type="presParOf" srcId="{845546AB-36BA-42E4-A6C1-0C9D62802C97}" destId="{58396E01-7952-4386-8A24-F805DE8090F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88451-AA9C-4C56-990E-96D9A60FCFEE}">
      <dsp:nvSpPr>
        <dsp:cNvPr id="0" name=""/>
        <dsp:cNvSpPr/>
      </dsp:nvSpPr>
      <dsp:spPr>
        <a:xfrm>
          <a:off x="1153773" y="-465431"/>
          <a:ext cx="2427692" cy="2352407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Improved Safety </a:t>
          </a: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</a:t>
          </a:r>
          <a:r>
            <a:rPr lang="en-IN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Earlier warning of nearby vehicles and obstacles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Reduced collision exposure in low visibility</a:t>
          </a: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09300" y="-120929"/>
        <a:ext cx="1716638" cy="1663403"/>
      </dsp:txXfrm>
    </dsp:sp>
    <dsp:sp modelId="{08308812-11F4-4E53-AF67-EE63B941AE9D}">
      <dsp:nvSpPr>
        <dsp:cNvPr id="0" name=""/>
        <dsp:cNvSpPr/>
      </dsp:nvSpPr>
      <dsp:spPr>
        <a:xfrm rot="13472060">
          <a:off x="3087998" y="1236681"/>
          <a:ext cx="114008" cy="477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 rot="10800000">
        <a:off x="3117289" y="1344251"/>
        <a:ext cx="79806" cy="286726"/>
      </dsp:txXfrm>
    </dsp:sp>
    <dsp:sp modelId="{6D06A87E-E800-4045-9119-56F4FFD81F6B}">
      <dsp:nvSpPr>
        <dsp:cNvPr id="0" name=""/>
        <dsp:cNvSpPr/>
      </dsp:nvSpPr>
      <dsp:spPr>
        <a:xfrm>
          <a:off x="2876099" y="840854"/>
          <a:ext cx="1991980" cy="2700260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Better Fleet Coordination – </a:t>
          </a: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V2V communication improves awareness between dumpers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Improved haul-road coordination</a:t>
          </a:r>
          <a:r>
            <a:rPr lang="en-US" sz="1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IN" sz="1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67818" y="1236298"/>
        <a:ext cx="1408542" cy="1909372"/>
      </dsp:txXfrm>
    </dsp:sp>
    <dsp:sp modelId="{8190B071-EF30-4F7C-8437-F3066EC701D7}">
      <dsp:nvSpPr>
        <dsp:cNvPr id="0" name=""/>
        <dsp:cNvSpPr/>
      </dsp:nvSpPr>
      <dsp:spPr>
        <a:xfrm rot="19038338">
          <a:off x="3061053" y="2667300"/>
          <a:ext cx="71539" cy="477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3063897" y="2770153"/>
        <a:ext cx="50077" cy="286726"/>
      </dsp:txXfrm>
    </dsp:sp>
    <dsp:sp modelId="{B5923C32-2BBF-47D5-B43A-20A767273E72}">
      <dsp:nvSpPr>
        <dsp:cNvPr id="0" name=""/>
        <dsp:cNvSpPr/>
      </dsp:nvSpPr>
      <dsp:spPr>
        <a:xfrm>
          <a:off x="1432627" y="2367650"/>
          <a:ext cx="1898005" cy="2396839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Early Hazard Detection </a:t>
          </a: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 Gives operators timely warnings about nearby vehicles and obstacles</a:t>
          </a:r>
          <a:r>
            <a:rPr lang="en-US" sz="1600" kern="1200" dirty="0"/>
            <a:t>.</a:t>
          </a:r>
          <a:endParaRPr lang="en-IN" sz="1600" kern="1200" dirty="0"/>
        </a:p>
      </dsp:txBody>
      <dsp:txXfrm>
        <a:off x="1710583" y="2718659"/>
        <a:ext cx="1342093" cy="1694821"/>
      </dsp:txXfrm>
    </dsp:sp>
    <dsp:sp modelId="{1DC14E11-380B-4194-9E1B-28FD44224742}">
      <dsp:nvSpPr>
        <dsp:cNvPr id="0" name=""/>
        <dsp:cNvSpPr/>
      </dsp:nvSpPr>
      <dsp:spPr>
        <a:xfrm rot="2556626">
          <a:off x="1618764" y="2636524"/>
          <a:ext cx="24223" cy="477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1619723" y="2729640"/>
        <a:ext cx="16956" cy="286726"/>
      </dsp:txXfrm>
    </dsp:sp>
    <dsp:sp modelId="{4E18E0A2-2490-429E-A9E9-A8DEC695AF99}">
      <dsp:nvSpPr>
        <dsp:cNvPr id="0" name=""/>
        <dsp:cNvSpPr/>
      </dsp:nvSpPr>
      <dsp:spPr>
        <a:xfrm>
          <a:off x="-98612" y="949531"/>
          <a:ext cx="1931053" cy="2446354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>
            <a:solidFill>
              <a:schemeClr val="bg1">
                <a:lumMod val="9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Faster Response </a:t>
          </a:r>
          <a:r>
            <a:rPr lang="en-US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 Supports timely stopping during critical situations</a:t>
          </a:r>
          <a:r>
            <a:rPr lang="en-US" sz="15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en-IN" sz="1500" kern="1200" dirty="0"/>
            <a:t> </a:t>
          </a:r>
          <a:endParaRPr lang="en-US" sz="15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4184" y="1307791"/>
        <a:ext cx="1365461" cy="1729834"/>
      </dsp:txXfrm>
    </dsp:sp>
    <dsp:sp modelId="{845546AB-36BA-42E4-A6C1-0C9D62802C97}">
      <dsp:nvSpPr>
        <dsp:cNvPr id="0" name=""/>
        <dsp:cNvSpPr/>
      </dsp:nvSpPr>
      <dsp:spPr>
        <a:xfrm rot="8144984">
          <a:off x="1529099" y="1245182"/>
          <a:ext cx="89323" cy="4778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 rot="10800000">
        <a:off x="1552095" y="1331409"/>
        <a:ext cx="62526" cy="286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hyperlink" Target="https://youtu.be/AJcr9JlmeS8?si=hzy0yNTxMBC2BrFL" TargetMode="Externa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dn.sparkfun.com/datasheets/Robotics/TB6612FNG.pdf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cdn-learn.adafruit.com/downloads/pdf/adafruit-vl53l0x-micro-lidar-distance-sensor-breakout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lideshare.net/slideshow/v2v-vehicle-to-vehicle-communication/236599683" TargetMode="External"/><Relationship Id="rId5" Type="http://schemas.openxmlformats.org/officeDocument/2006/relationships/hyperlink" Target="https://factly.in/tracking-fatal-and-serious-accidents-in-indias-mines/" TargetMode="External"/><Relationship Id="rId10" Type="http://schemas.openxmlformats.org/officeDocument/2006/relationships/hyperlink" Target="https://fatfinger.io/collision-hazards-in-mining/" TargetMode="External"/><Relationship Id="rId4" Type="http://schemas.openxmlformats.org/officeDocument/2006/relationships/hyperlink" Target="https://scholar.google.com/scholar?hl=en&amp;as_sdt=0,5&amp;q=raspberry+pi+pico+2w+datasheet#d=gs_qabs&amp;t=1790069993856&amp;u=%23p%3DHP4TH7awDSEJ" TargetMode="External"/><Relationship Id="rId9" Type="http://schemas.openxmlformats.org/officeDocument/2006/relationships/hyperlink" Target="https://www.3mindia.in/3M/en_IN/road-safety-in/resources/road-transportation-safety-center-blog/full-story/~/what-is-vehicle-to-infrastructure-v2i-communication-and-why-do-we-need-it/?storyid=0b95359f-9389-4233-9db4-63e307d36b7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63094" y="338619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356335"/>
            <a:ext cx="6683441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SIH26007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 and Efficient Operation of Mine Vehicles in Fog and Low-Visibility Conditions in Open Cast Iron Ore Mines.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140880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SILICON SAVANTS123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IN" sz="2400" dirty="0">
                <a:latin typeface="Sitka Display Semibold" pitchFamily="2" charset="0"/>
              </a:rPr>
              <a:t>Safe and Efficient Operation of Mine Vehicles in Fog and</a:t>
            </a:r>
            <a:br>
              <a:rPr lang="en-IN" sz="2400" dirty="0">
                <a:latin typeface="Sitka Display Semibold" pitchFamily="2" charset="0"/>
              </a:rPr>
            </a:br>
            <a:r>
              <a:rPr lang="en-IN" sz="2400" dirty="0">
                <a:latin typeface="Sitka Display Semibold" pitchFamily="2" charset="0"/>
              </a:rPr>
              <a:t> Low-Visibility Conditions in Open Cast Iron Ore Mines.</a:t>
            </a:r>
            <a:endParaRPr lang="en-US" sz="2400" b="1" dirty="0">
              <a:latin typeface="Sitka Display Semibold" pitchFamily="2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5385" y="211793"/>
            <a:ext cx="2103174" cy="85204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015762-674B-33CC-3101-0477B32FBD86}"/>
              </a:ext>
            </a:extLst>
          </p:cNvPr>
          <p:cNvSpPr/>
          <p:nvPr/>
        </p:nvSpPr>
        <p:spPr>
          <a:xfrm>
            <a:off x="44168" y="3474901"/>
            <a:ext cx="4036595" cy="2690413"/>
          </a:xfrm>
          <a:prstGeom prst="roundRect">
            <a:avLst/>
          </a:prstGeom>
          <a:solidFill>
            <a:srgbClr val="FFD1A3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041F8-5616-C3F9-3362-99E8FAAFD070}"/>
              </a:ext>
            </a:extLst>
          </p:cNvPr>
          <p:cNvSpPr txBox="1"/>
          <p:nvPr/>
        </p:nvSpPr>
        <p:spPr>
          <a:xfrm>
            <a:off x="135401" y="3567945"/>
            <a:ext cx="395796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Challenges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/>
              <a:t>🌫️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Visibility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Fog, dust and rain limit visibility.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🚛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Dumper Blind Spots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Nearby vehicles and obstacles can go undetected.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📡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Coordination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—Limited sharing of vehicle location and hazards</a:t>
            </a:r>
            <a:r>
              <a:rPr lang="en-US" b="1" dirty="0"/>
              <a:t>.</a:t>
            </a:r>
            <a:endParaRPr lang="en-IN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B52DF59-86EF-5B7C-E6C8-C922211885A7}"/>
              </a:ext>
            </a:extLst>
          </p:cNvPr>
          <p:cNvSpPr/>
          <p:nvPr/>
        </p:nvSpPr>
        <p:spPr>
          <a:xfrm>
            <a:off x="4107089" y="3247905"/>
            <a:ext cx="8084912" cy="3051688"/>
          </a:xfrm>
          <a:prstGeom prst="roundRect">
            <a:avLst/>
          </a:prstGeom>
          <a:solidFill>
            <a:srgbClr val="FFD1A3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396A1DF-DBF7-EE7A-8A5D-8502DE4B60DB}"/>
              </a:ext>
            </a:extLst>
          </p:cNvPr>
          <p:cNvSpPr/>
          <p:nvPr/>
        </p:nvSpPr>
        <p:spPr>
          <a:xfrm>
            <a:off x="4251425" y="909998"/>
            <a:ext cx="4784155" cy="385385"/>
          </a:xfrm>
          <a:prstGeom prst="roundRect">
            <a:avLst/>
          </a:prstGeom>
          <a:solidFill>
            <a:srgbClr val="FFD1A3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66D2A9-D195-22D8-4DF9-183129603DFC}"/>
              </a:ext>
            </a:extLst>
          </p:cNvPr>
          <p:cNvSpPr txBox="1"/>
          <p:nvPr/>
        </p:nvSpPr>
        <p:spPr>
          <a:xfrm>
            <a:off x="5273377" y="869748"/>
            <a:ext cx="2679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3E343A-2319-1B28-25E2-ADD31BFA0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805" y="1391463"/>
            <a:ext cx="4693700" cy="17225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0840BA-0219-53D0-80AF-6C1653D73F7A}"/>
              </a:ext>
            </a:extLst>
          </p:cNvPr>
          <p:cNvSpPr txBox="1"/>
          <p:nvPr/>
        </p:nvSpPr>
        <p:spPr>
          <a:xfrm rot="10800000" flipH="1" flipV="1">
            <a:off x="347112" y="317568"/>
            <a:ext cx="2485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SAVANTS123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45D1D7-2E32-2AFF-08E7-78F29BF24888}"/>
              </a:ext>
            </a:extLst>
          </p:cNvPr>
          <p:cNvSpPr/>
          <p:nvPr/>
        </p:nvSpPr>
        <p:spPr>
          <a:xfrm>
            <a:off x="35785" y="1101444"/>
            <a:ext cx="4036595" cy="2042352"/>
          </a:xfrm>
          <a:prstGeom prst="roundRect">
            <a:avLst/>
          </a:prstGeom>
          <a:solidFill>
            <a:srgbClr val="FFD1A3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0777A-D02F-4FC2-A38A-1C67C21F5FA4}"/>
              </a:ext>
            </a:extLst>
          </p:cNvPr>
          <p:cNvSpPr txBox="1"/>
          <p:nvPr/>
        </p:nvSpPr>
        <p:spPr>
          <a:xfrm>
            <a:off x="206926" y="1153347"/>
            <a:ext cx="381491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World Problem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visibility in open-cast mines makes it difficult for dumper operators to detect vehicles and obstacles, increasing collision risk and causing operational delays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45453-3234-F248-22D8-CCEA0FCA6978}"/>
              </a:ext>
            </a:extLst>
          </p:cNvPr>
          <p:cNvSpPr txBox="1"/>
          <p:nvPr/>
        </p:nvSpPr>
        <p:spPr>
          <a:xfrm>
            <a:off x="4184600" y="3229963"/>
            <a:ext cx="84807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vehicles and obstacles using multiple sensors.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vehicle position, movement and operating status.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Communicate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vehicle status and hazard information through V2V communication.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Risk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distance, motion and vehicle information to identify collision risk.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&amp; Respond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 the driver and initiate controlled slowing/stopping when required.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Monitor Fleet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vehicle status and hazards on a centralized dashboard.</a:t>
            </a: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628982C-43EF-6FDC-C4D8-ECF3E67D6F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430" y="437501"/>
            <a:ext cx="3328347" cy="33065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E426B9A-B1EC-AFC7-66A7-7909473D1368}"/>
              </a:ext>
            </a:extLst>
          </p:cNvPr>
          <p:cNvSpPr/>
          <p:nvPr/>
        </p:nvSpPr>
        <p:spPr>
          <a:xfrm>
            <a:off x="8966290" y="1043099"/>
            <a:ext cx="2775437" cy="4001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6656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500"/>
            <a:ext cx="22583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SAVANTS123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7CDF70-C1CC-DCF8-D796-8728CC3CB4C1}"/>
              </a:ext>
            </a:extLst>
          </p:cNvPr>
          <p:cNvSpPr txBox="1"/>
          <p:nvPr/>
        </p:nvSpPr>
        <p:spPr>
          <a:xfrm>
            <a:off x="8966290" y="1027236"/>
            <a:ext cx="4387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A5A5E15-E49B-4C6C-0C61-689A44A1A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540" y="1596675"/>
            <a:ext cx="3366396" cy="14562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84EAE9-BAD3-538F-33A9-47477ADB0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539" y="3052900"/>
            <a:ext cx="3366395" cy="154977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108AA9-D85B-C7C2-DB6D-3469CDAE7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539" y="4602670"/>
            <a:ext cx="3366395" cy="1752092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EB7A076-6B55-A3F7-1E00-1809128B200A}"/>
              </a:ext>
            </a:extLst>
          </p:cNvPr>
          <p:cNvSpPr/>
          <p:nvPr/>
        </p:nvSpPr>
        <p:spPr>
          <a:xfrm>
            <a:off x="4690319" y="809775"/>
            <a:ext cx="2006029" cy="46166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002520-EFC9-79BE-E1FD-95B3B01FDD0E}"/>
              </a:ext>
            </a:extLst>
          </p:cNvPr>
          <p:cNvSpPr txBox="1"/>
          <p:nvPr/>
        </p:nvSpPr>
        <p:spPr>
          <a:xfrm>
            <a:off x="4764759" y="857958"/>
            <a:ext cx="2005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5052C56-DCBF-D35D-5BD7-9F5CD2ACF50D}"/>
              </a:ext>
            </a:extLst>
          </p:cNvPr>
          <p:cNvSpPr/>
          <p:nvPr/>
        </p:nvSpPr>
        <p:spPr>
          <a:xfrm>
            <a:off x="396515" y="786707"/>
            <a:ext cx="3812727" cy="42324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85E686-A493-B5F2-DB23-52B34ACB6F0B}"/>
              </a:ext>
            </a:extLst>
          </p:cNvPr>
          <p:cNvSpPr txBox="1"/>
          <p:nvPr/>
        </p:nvSpPr>
        <p:spPr>
          <a:xfrm>
            <a:off x="396515" y="796403"/>
            <a:ext cx="3940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09BFF32-0DEB-0EDA-E7A3-76C5459F33E7}"/>
              </a:ext>
            </a:extLst>
          </p:cNvPr>
          <p:cNvSpPr/>
          <p:nvPr/>
        </p:nvSpPr>
        <p:spPr>
          <a:xfrm>
            <a:off x="6769936" y="803090"/>
            <a:ext cx="1935723" cy="46166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A571F8-04E4-8E45-6C40-D50FBFDE3319}"/>
              </a:ext>
            </a:extLst>
          </p:cNvPr>
          <p:cNvSpPr txBox="1"/>
          <p:nvPr/>
        </p:nvSpPr>
        <p:spPr>
          <a:xfrm>
            <a:off x="6687201" y="847971"/>
            <a:ext cx="2086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APPROACH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B21FD-A333-06C4-8DF2-6B622345A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58" y="1289193"/>
            <a:ext cx="4494925" cy="50655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73066C-703C-2420-9072-66A02070A6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1397406"/>
            <a:ext cx="3966758" cy="48491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595" y="21894"/>
            <a:ext cx="2316318" cy="67888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SAVANTS123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6F9F48-AB00-159A-E47D-356DA8330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5737"/>
            <a:ext cx="4038601" cy="55906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C7A879-8DC8-3365-BC40-921A5727A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561" y="765738"/>
            <a:ext cx="3460954" cy="54525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3CFD40-708B-EF55-3573-BCBE2D5CCE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315" y="1112962"/>
            <a:ext cx="4773683" cy="527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61D0065-BEE8-A576-82F4-5E038E8FC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237" y="1063837"/>
            <a:ext cx="6790764" cy="44213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-6359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2076" y="86541"/>
            <a:ext cx="218292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SAVANTS123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7429CE-7454-FF32-945F-3EA9CB535E02}"/>
              </a:ext>
            </a:extLst>
          </p:cNvPr>
          <p:cNvSpPr/>
          <p:nvPr/>
        </p:nvSpPr>
        <p:spPr>
          <a:xfrm>
            <a:off x="1860498" y="758125"/>
            <a:ext cx="1857875" cy="429672"/>
          </a:xfrm>
          <a:prstGeom prst="roundRect">
            <a:avLst/>
          </a:prstGeom>
          <a:solidFill>
            <a:srgbClr val="FFD1A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1AC2EE-9036-28D3-88A6-53164B2F01CD}"/>
              </a:ext>
            </a:extLst>
          </p:cNvPr>
          <p:cNvSpPr/>
          <p:nvPr/>
        </p:nvSpPr>
        <p:spPr>
          <a:xfrm flipV="1">
            <a:off x="7671641" y="949743"/>
            <a:ext cx="2456384" cy="319215"/>
          </a:xfrm>
          <a:prstGeom prst="roundRect">
            <a:avLst/>
          </a:prstGeom>
          <a:solidFill>
            <a:srgbClr val="FFD1A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E37868-EC62-CBAE-2C95-D74ECAEC25EB}"/>
              </a:ext>
            </a:extLst>
          </p:cNvPr>
          <p:cNvSpPr txBox="1"/>
          <p:nvPr/>
        </p:nvSpPr>
        <p:spPr>
          <a:xfrm>
            <a:off x="7959208" y="847740"/>
            <a:ext cx="2249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BE4B8427-1521-ABAD-EC8D-83BC608C39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2644556"/>
              </p:ext>
            </p:extLst>
          </p:nvPr>
        </p:nvGraphicFramePr>
        <p:xfrm>
          <a:off x="631769" y="1627144"/>
          <a:ext cx="4769468" cy="4421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D218FC9-E1E7-5FEF-5751-A14A7783672A}"/>
              </a:ext>
            </a:extLst>
          </p:cNvPr>
          <p:cNvSpPr txBox="1"/>
          <p:nvPr/>
        </p:nvSpPr>
        <p:spPr>
          <a:xfrm>
            <a:off x="2063975" y="726132"/>
            <a:ext cx="2062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C24020-1BCA-9DE7-51DD-97930D2E0788}"/>
              </a:ext>
            </a:extLst>
          </p:cNvPr>
          <p:cNvSpPr/>
          <p:nvPr/>
        </p:nvSpPr>
        <p:spPr>
          <a:xfrm>
            <a:off x="5401237" y="5352062"/>
            <a:ext cx="6790764" cy="8999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4A26C-8006-B9C1-990F-E8631068D1E5}"/>
              </a:ext>
            </a:extLst>
          </p:cNvPr>
          <p:cNvSpPr txBox="1"/>
          <p:nvPr/>
        </p:nvSpPr>
        <p:spPr>
          <a:xfrm>
            <a:off x="5110480" y="250444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4F4A8-3FF9-7904-A0FE-D5A2124EA553}"/>
              </a:ext>
            </a:extLst>
          </p:cNvPr>
          <p:cNvSpPr txBox="1"/>
          <p:nvPr/>
        </p:nvSpPr>
        <p:spPr>
          <a:xfrm>
            <a:off x="3489262" y="10346204"/>
            <a:ext cx="619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40054-0C9A-6120-F2F7-23DB34621BE0}"/>
              </a:ext>
            </a:extLst>
          </p:cNvPr>
          <p:cNvSpPr txBox="1"/>
          <p:nvPr/>
        </p:nvSpPr>
        <p:spPr>
          <a:xfrm>
            <a:off x="5401237" y="5369032"/>
            <a:ext cx="6989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Business Opportunity: Commercialize the system for mining companies through hardware sales, installation, and subscription-based fleet monitoring.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A55A80-7170-551B-1EAC-1C56AD0E1C9D}"/>
              </a:ext>
            </a:extLst>
          </p:cNvPr>
          <p:cNvSpPr/>
          <p:nvPr/>
        </p:nvSpPr>
        <p:spPr>
          <a:xfrm>
            <a:off x="0" y="5139265"/>
            <a:ext cx="2063975" cy="111269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922B4-16B3-5B8F-C182-3D581A555ADF}"/>
              </a:ext>
            </a:extLst>
          </p:cNvPr>
          <p:cNvSpPr txBox="1"/>
          <p:nvPr/>
        </p:nvSpPr>
        <p:spPr>
          <a:xfrm>
            <a:off x="62076" y="5233948"/>
            <a:ext cx="1999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10"/>
              </a:rPr>
              <a:t>https://youtu.be/AJcr9JlmeS8?si=hzy0yNTxMBC2BrFL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109732"/>
            <a:ext cx="233024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SAVANTS123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EB793C-1D4A-298D-4A2D-8B2A9C25508D}"/>
              </a:ext>
            </a:extLst>
          </p:cNvPr>
          <p:cNvSpPr/>
          <p:nvPr/>
        </p:nvSpPr>
        <p:spPr>
          <a:xfrm>
            <a:off x="96255" y="1348795"/>
            <a:ext cx="5927706" cy="10477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948FD9-E243-D900-86EB-0686DB173796}"/>
              </a:ext>
            </a:extLst>
          </p:cNvPr>
          <p:cNvSpPr/>
          <p:nvPr/>
        </p:nvSpPr>
        <p:spPr>
          <a:xfrm>
            <a:off x="103182" y="2545807"/>
            <a:ext cx="5933936" cy="10477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FBB93A-5152-55DF-0D90-A3D34B83740D}"/>
              </a:ext>
            </a:extLst>
          </p:cNvPr>
          <p:cNvSpPr/>
          <p:nvPr/>
        </p:nvSpPr>
        <p:spPr>
          <a:xfrm>
            <a:off x="80599" y="3668488"/>
            <a:ext cx="5933936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hlinkClick r:id="rId4"/>
            <a:extLst>
              <a:ext uri="{FF2B5EF4-FFF2-40B4-BE49-F238E27FC236}">
                <a16:creationId xmlns:a16="http://schemas.microsoft.com/office/drawing/2014/main" id="{E4DFFBB8-08A2-E52B-705B-47EBA90559D3}"/>
              </a:ext>
            </a:extLst>
          </p:cNvPr>
          <p:cNvSpPr/>
          <p:nvPr/>
        </p:nvSpPr>
        <p:spPr>
          <a:xfrm>
            <a:off x="103182" y="5048790"/>
            <a:ext cx="5933936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2286DF-126D-87E9-CBAB-D52AD6AAE689}"/>
              </a:ext>
            </a:extLst>
          </p:cNvPr>
          <p:cNvSpPr/>
          <p:nvPr/>
        </p:nvSpPr>
        <p:spPr>
          <a:xfrm>
            <a:off x="6666271" y="1313942"/>
            <a:ext cx="5152857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E3859B-9D6A-13F3-DF13-1BC339ACDAAB}"/>
              </a:ext>
            </a:extLst>
          </p:cNvPr>
          <p:cNvSpPr/>
          <p:nvPr/>
        </p:nvSpPr>
        <p:spPr>
          <a:xfrm>
            <a:off x="6666271" y="2489725"/>
            <a:ext cx="5152857" cy="202159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F1B520-FBDE-A15C-DA22-991BDDC4E8E5}"/>
              </a:ext>
            </a:extLst>
          </p:cNvPr>
          <p:cNvSpPr/>
          <p:nvPr/>
        </p:nvSpPr>
        <p:spPr>
          <a:xfrm>
            <a:off x="6666271" y="4972841"/>
            <a:ext cx="5117798" cy="1218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EDAB60-38D8-91DF-36C8-A96A890FD40E}"/>
              </a:ext>
            </a:extLst>
          </p:cNvPr>
          <p:cNvSpPr txBox="1"/>
          <p:nvPr/>
        </p:nvSpPr>
        <p:spPr>
          <a:xfrm>
            <a:off x="1920309" y="5268460"/>
            <a:ext cx="3564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5"/>
              </a:rPr>
              <a:t>https://factly.in/tracking-fatal-and-serious-accidents-in-indias-mines/</a:t>
            </a:r>
            <a:endParaRPr lang="en-IN" dirty="0"/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7619E2-63F6-A008-43CB-A9B351E0596E}"/>
              </a:ext>
            </a:extLst>
          </p:cNvPr>
          <p:cNvSpPr txBox="1"/>
          <p:nvPr/>
        </p:nvSpPr>
        <p:spPr>
          <a:xfrm>
            <a:off x="300332" y="1515840"/>
            <a:ext cx="1590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Rasberry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sheet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0E25B3-AD15-2D8C-C5D1-76ABE7225EFE}"/>
              </a:ext>
            </a:extLst>
          </p:cNvPr>
          <p:cNvSpPr txBox="1"/>
          <p:nvPr/>
        </p:nvSpPr>
        <p:spPr>
          <a:xfrm>
            <a:off x="241338" y="2604715"/>
            <a:ext cx="141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Vl53l0x  datasheet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C9C0D8-7F2D-4EBB-BEE1-000915C68939}"/>
              </a:ext>
            </a:extLst>
          </p:cNvPr>
          <p:cNvSpPr txBox="1"/>
          <p:nvPr/>
        </p:nvSpPr>
        <p:spPr>
          <a:xfrm>
            <a:off x="289214" y="3871313"/>
            <a:ext cx="141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Tb6612fng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9F2E99-DF39-EC0C-946C-DCB675734B18}"/>
              </a:ext>
            </a:extLst>
          </p:cNvPr>
          <p:cNvSpPr txBox="1"/>
          <p:nvPr/>
        </p:nvSpPr>
        <p:spPr>
          <a:xfrm>
            <a:off x="289214" y="5289281"/>
            <a:ext cx="1601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Mine area fatal Survey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A34371-3307-CD95-C2F6-CDCD12D4C033}"/>
              </a:ext>
            </a:extLst>
          </p:cNvPr>
          <p:cNvSpPr txBox="1"/>
          <p:nvPr/>
        </p:nvSpPr>
        <p:spPr>
          <a:xfrm>
            <a:off x="8197007" y="1354741"/>
            <a:ext cx="3761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6"/>
              </a:rPr>
              <a:t>https://www.slideshare.net/slideshow/v2v-vehicle-to-vehicle-communication/236599683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4C57CB-F579-1A0F-3336-C4EFF9A1E553}"/>
              </a:ext>
            </a:extLst>
          </p:cNvPr>
          <p:cNvSpPr txBox="1"/>
          <p:nvPr/>
        </p:nvSpPr>
        <p:spPr>
          <a:xfrm>
            <a:off x="1840420" y="1309264"/>
            <a:ext cx="4414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7"/>
              </a:rPr>
              <a:t>https://pip-assets.raspberrypi.com/categories/1088-raspberry-pi-pico-2-w/documents/RP-008304-DS-3-pico-2-w-datasheet.pdf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FDAE83-8504-27F0-DA97-58825D2841D7}"/>
              </a:ext>
            </a:extLst>
          </p:cNvPr>
          <p:cNvSpPr txBox="1"/>
          <p:nvPr/>
        </p:nvSpPr>
        <p:spPr>
          <a:xfrm>
            <a:off x="1378910" y="2582507"/>
            <a:ext cx="48260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7"/>
              </a:rPr>
              <a:t>https://cdn-learn.adafruit.com/downloads/pdf/adafruit-vl53l0x-micro-lidar-distance-sensor-breakout.pdf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9D1393-5F55-C42B-51AB-8721216914D6}"/>
              </a:ext>
            </a:extLst>
          </p:cNvPr>
          <p:cNvSpPr txBox="1"/>
          <p:nvPr/>
        </p:nvSpPr>
        <p:spPr>
          <a:xfrm>
            <a:off x="1974924" y="3813226"/>
            <a:ext cx="3065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8"/>
              </a:rPr>
              <a:t>https://cdn.sparkfun.com/datasheets/Robotics/TB6612FNG.pdf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1FF4D-0417-D22D-5D8C-E1702AEC0C1D}"/>
              </a:ext>
            </a:extLst>
          </p:cNvPr>
          <p:cNvSpPr txBox="1"/>
          <p:nvPr/>
        </p:nvSpPr>
        <p:spPr>
          <a:xfrm>
            <a:off x="7817005" y="2489725"/>
            <a:ext cx="40857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9"/>
              </a:rPr>
              <a:t>https://www.3mindia.in/3M/en_IN/road-safety-in/resources/road-transportation-safety-center-blog/full-story/~/what-is-vehicle-to-infrastructure-v2i-communication-and-why-do-we-need-it/?storyid=0b95359f-9389-4233-9db4-63e307d36b70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7B368-CC03-A606-3E99-4A1A8AEC665A}"/>
              </a:ext>
            </a:extLst>
          </p:cNvPr>
          <p:cNvSpPr txBox="1"/>
          <p:nvPr/>
        </p:nvSpPr>
        <p:spPr>
          <a:xfrm>
            <a:off x="8737600" y="5184393"/>
            <a:ext cx="2920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https://fatfinger.io/collision-hazards-in-mining/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EBEB10-8EE7-9DD4-7285-157179D0B463}"/>
              </a:ext>
            </a:extLst>
          </p:cNvPr>
          <p:cNvSpPr txBox="1"/>
          <p:nvPr/>
        </p:nvSpPr>
        <p:spPr>
          <a:xfrm>
            <a:off x="6631769" y="1479087"/>
            <a:ext cx="1704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V2V Communication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31DBB8-1550-F768-7C1E-4FD32D15C9EC}"/>
              </a:ext>
            </a:extLst>
          </p:cNvPr>
          <p:cNvSpPr txBox="1"/>
          <p:nvPr/>
        </p:nvSpPr>
        <p:spPr>
          <a:xfrm>
            <a:off x="6589902" y="2900516"/>
            <a:ext cx="1407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V2I Communication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524F9E-34AA-678E-8AB3-AA4126C94977}"/>
              </a:ext>
            </a:extLst>
          </p:cNvPr>
          <p:cNvSpPr txBox="1"/>
          <p:nvPr/>
        </p:nvSpPr>
        <p:spPr>
          <a:xfrm>
            <a:off x="6794090" y="5048790"/>
            <a:ext cx="1868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Hazards in Mining and How to Prevent Them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A55520-1247-B8EC-7E7D-DF0DC67649F7}"/>
              </a:ext>
            </a:extLst>
          </p:cNvPr>
          <p:cNvSpPr txBox="1"/>
          <p:nvPr/>
        </p:nvSpPr>
        <p:spPr>
          <a:xfrm>
            <a:off x="1745673" y="766429"/>
            <a:ext cx="3687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Datasheet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2DDBBF-C6E9-A52B-62CB-C834A318C523}"/>
              </a:ext>
            </a:extLst>
          </p:cNvPr>
          <p:cNvSpPr txBox="1"/>
          <p:nvPr/>
        </p:nvSpPr>
        <p:spPr>
          <a:xfrm>
            <a:off x="7293632" y="816004"/>
            <a:ext cx="4559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Research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913F03-F19C-514C-6E5D-E3E70721AEF5}"/>
              </a:ext>
            </a:extLst>
          </p:cNvPr>
          <p:cNvSpPr txBox="1"/>
          <p:nvPr/>
        </p:nvSpPr>
        <p:spPr>
          <a:xfrm>
            <a:off x="7705440" y="4436646"/>
            <a:ext cx="3561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Research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8972</TotalTime>
  <Words>514</Words>
  <Application>Microsoft Office PowerPoint</Application>
  <PresentationFormat>Widescreen</PresentationFormat>
  <Paragraphs>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Sitka Display Semibold</vt:lpstr>
      <vt:lpstr>Times New Roman</vt:lpstr>
      <vt:lpstr>TradeGothic</vt:lpstr>
      <vt:lpstr>Office Theme</vt:lpstr>
      <vt:lpstr>SMART INDIA HACKATHON 2026</vt:lpstr>
      <vt:lpstr>Safe and Efficient Operation of Mine Vehicles in Fog and  Low-Visibility Conditions in Open Cast Iron Ore Mines.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ACS</cp:lastModifiedBy>
  <cp:revision>167</cp:revision>
  <dcterms:created xsi:type="dcterms:W3CDTF">2013-12-12T18:46:50Z</dcterms:created>
  <dcterms:modified xsi:type="dcterms:W3CDTF">2026-09-29T13:17:11Z</dcterms:modified>
  <cp:category/>
</cp:coreProperties>
</file>